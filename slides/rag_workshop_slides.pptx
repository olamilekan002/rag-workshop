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365D"/>
                </a:solidFill>
              </a:defRPr>
            </a:pPr>
            <a:r>
              <a:t>Build Your Own RAG System from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2B6CB0"/>
                </a:solidFill>
              </a:defRPr>
            </a:pPr>
            <a:r>
              <a:t>Talk to Any Document with AI</a:t>
            </a:r>
          </a:p>
          <a:p>
            <a:pPr algn="ctr">
              <a:defRPr sz="2200">
                <a:solidFill>
                  <a:srgbClr val="2B6CB0"/>
                </a:solidFill>
              </a:defRPr>
            </a:pPr>
            <a:r>
              <a:t>3-Hour Hands-On Workshop</a:t>
            </a:r>
          </a:p>
          <a:p>
            <a:pPr algn="ctr">
              <a:defRPr sz="2200">
                <a:solidFill>
                  <a:srgbClr val="2B6CB0"/>
                </a:solidFill>
              </a:defRPr>
            </a:pPr>
            <a:r>
              <a:t>Your Name · Event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Why RAG exists</a:t>
            </a:r>
          </a:p>
          <a:p>
            <a:pPr>
              <a:spcAft>
                <a:spcPts val="1000"/>
              </a:spcAft>
              <a:defRPr sz="2200"/>
            </a:pPr>
            <a:r>
              <a:t>Embeddings and semantic search</a:t>
            </a:r>
          </a:p>
          <a:p>
            <a:pPr>
              <a:spcAft>
                <a:spcPts val="1000"/>
              </a:spcAft>
              <a:defRPr sz="2200"/>
            </a:pPr>
            <a:r>
              <a:t>Build the document pipeline</a:t>
            </a:r>
          </a:p>
          <a:p>
            <a:pPr>
              <a:spcAft>
                <a:spcPts val="1000"/>
              </a:spcAft>
              <a:defRPr sz="2200"/>
            </a:pPr>
            <a:r>
              <a:t>Retrieve and generate answers</a:t>
            </a:r>
          </a:p>
          <a:p>
            <a:pPr>
              <a:spcAft>
                <a:spcPts val="1000"/>
              </a:spcAft>
              <a:defRPr sz="2200"/>
            </a:pPr>
            <a:r>
              <a:t>Run a local chat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Who This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Lecturers — course assistants</a:t>
            </a:r>
          </a:p>
          <a:p>
            <a:pPr>
              <a:spcAft>
                <a:spcPts val="1000"/>
              </a:spcAft>
              <a:defRPr sz="2200"/>
            </a:pPr>
            <a:r>
              <a:t>Researchers — papers and policies</a:t>
            </a:r>
          </a:p>
          <a:p>
            <a:pPr>
              <a:spcAft>
                <a:spcPts val="1000"/>
              </a:spcAft>
              <a:defRPr sz="2200"/>
            </a:pPr>
            <a:r>
              <a:t>Practitioners — AI workflows</a:t>
            </a:r>
          </a:p>
          <a:p>
            <a:pPr>
              <a:spcAft>
                <a:spcPts val="1000"/>
              </a:spcAft>
              <a:defRPr sz="2200"/>
            </a:pPr>
            <a:r>
              <a:t>Industry — knowledge prototypes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What Is an LLM?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Predicts the next token</a:t>
            </a:r>
          </a:p>
          <a:p>
            <a:pPr>
              <a:spcAft>
                <a:spcPts val="1000"/>
              </a:spcAft>
              <a:defRPr sz="2200"/>
            </a:pPr>
            <a:r>
              <a:t>Strong at language tasks</a:t>
            </a:r>
          </a:p>
          <a:p>
            <a:pPr>
              <a:spcAft>
                <a:spcPts val="1000"/>
              </a:spcAft>
              <a:defRPr sz="2200"/>
            </a:pPr>
            <a:r>
              <a:t>Weak at knowing your private documents</a:t>
            </a:r>
          </a:p>
          <a:p>
            <a:pPr>
              <a:spcAft>
                <a:spcPts val="1000"/>
              </a:spcAft>
              <a:defRPr sz="2200"/>
            </a:pPr>
            <a:r>
              <a:t>Can hallucinate when unsure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The Hallucination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"What is our university's policy on X?"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LLM without your data → confident but wrong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What Is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Retrieval-Augmented Generation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Give the model the right context before it answers.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RAG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User Question</a:t>
            </a:r>
          </a:p>
          <a:p>
            <a:pPr>
              <a:spcAft>
                <a:spcPts val="800"/>
              </a:spcAft>
              <a:defRPr sz="2200"/>
            </a:pPr>
            <a:r>
              <a:t>  ↓</a:t>
            </a:r>
          </a:p>
          <a:p>
            <a:pPr>
              <a:spcAft>
                <a:spcPts val="800"/>
              </a:spcAft>
              <a:defRPr sz="2200"/>
            </a:pPr>
            <a:r>
              <a:t>Embed → Vector DB → Top-K Chunks</a:t>
            </a:r>
          </a:p>
          <a:p>
            <a:pPr>
              <a:spcAft>
                <a:spcPts val="800"/>
              </a:spcAft>
              <a:defRPr sz="2200"/>
            </a:pPr>
            <a:r>
              <a:t>  ↓</a:t>
            </a:r>
          </a:p>
          <a:p>
            <a:pPr>
              <a:spcAft>
                <a:spcPts val="800"/>
              </a:spcAft>
              <a:defRPr sz="2200"/>
            </a:pPr>
            <a:r>
              <a:t>Prompt (Context + Question) → LLM → Grounded Answer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Real-World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ChatGPT document tools</a:t>
            </a:r>
          </a:p>
          <a:p>
            <a:pPr>
              <a:spcAft>
                <a:spcPts val="1000"/>
              </a:spcAft>
              <a:defRPr sz="2200"/>
            </a:pPr>
            <a:r>
              <a:t>Perplexity-style search</a:t>
            </a:r>
          </a:p>
          <a:p>
            <a:pPr>
              <a:spcAft>
                <a:spcPts val="1000"/>
              </a:spcAft>
              <a:defRPr sz="2200"/>
            </a:pPr>
            <a:r>
              <a:t>Enterprise knowledge assistants</a:t>
            </a:r>
          </a:p>
          <a:p>
            <a:pPr>
              <a:spcAft>
                <a:spcPts val="1000"/>
              </a:spcAft>
              <a:defRPr sz="2200"/>
            </a:pPr>
            <a:r>
              <a:t>Research and policy Q&amp;A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What Are Embeddings?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Text → numbers that capture meaning</a:t>
            </a:r>
          </a:p>
          <a:p>
            <a:pPr>
              <a:spcAft>
                <a:spcPts val="1000"/>
              </a:spcAft>
              <a:defRPr sz="2200"/>
            </a:pPr>
            <a:r>
              <a:t>Similar meaning → close vectors</a:t>
            </a:r>
          </a:p>
          <a:p>
            <a:pPr>
              <a:spcAft>
                <a:spcPts val="1000"/>
              </a:spcAft>
              <a:defRPr sz="2200"/>
            </a:pPr>
            <a:r>
              <a:t>car + vehicle &gt; car + banana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Why Chunk Documents?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LLMs have context limits</a:t>
            </a:r>
          </a:p>
          <a:p>
            <a:pPr>
              <a:spcAft>
                <a:spcPts val="1000"/>
              </a:spcAft>
              <a:defRPr sz="2200"/>
            </a:pPr>
            <a:r>
              <a:t>Smaller chunks improve retrieval precision</a:t>
            </a:r>
          </a:p>
          <a:p>
            <a:pPr>
              <a:spcAft>
                <a:spcPts val="1000"/>
              </a:spcAft>
              <a:defRPr sz="2200"/>
            </a:pPr>
            <a:r>
              <a:t>Overlap preserves meaning at boundaries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Vector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Stores embeddings</a:t>
            </a:r>
          </a:p>
          <a:p>
            <a:pPr>
              <a:spcAft>
                <a:spcPts val="1000"/>
              </a:spcAft>
              <a:defRPr sz="2200"/>
            </a:pPr>
            <a:r>
              <a:t>Finds nearest meaning, not just keywords</a:t>
            </a:r>
          </a:p>
          <a:p>
            <a:pPr>
              <a:spcAft>
                <a:spcPts val="1000"/>
              </a:spcAft>
              <a:defRPr sz="2200"/>
            </a:pPr>
            <a:r>
              <a:t>Today: ChromaDB on your laptop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Demo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Live demo: local app answering from sample documents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streamlit run app.py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Workshop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Python — core language</a:t>
            </a:r>
          </a:p>
          <a:p>
            <a:pPr>
              <a:spcAft>
                <a:spcPts val="1000"/>
              </a:spcAft>
              <a:defRPr sz="2200"/>
            </a:pPr>
            <a:r>
              <a:t>LangChain — orchestration</a:t>
            </a:r>
          </a:p>
          <a:p>
            <a:pPr>
              <a:spcAft>
                <a:spcPts val="1000"/>
              </a:spcAft>
              <a:defRPr sz="2200"/>
            </a:pPr>
            <a:r>
              <a:t>Sentence Transformers — local embeddings</a:t>
            </a:r>
          </a:p>
          <a:p>
            <a:pPr>
              <a:spcAft>
                <a:spcPts val="1000"/>
              </a:spcAft>
              <a:defRPr sz="2200"/>
            </a:pPr>
            <a:r>
              <a:t>ChromaDB — local vector DB</a:t>
            </a:r>
          </a:p>
          <a:p>
            <a:pPr>
              <a:spcAft>
                <a:spcPts val="1000"/>
              </a:spcAft>
              <a:defRPr sz="2200"/>
            </a:pPr>
            <a:r>
              <a:t>Gemini API — generation</a:t>
            </a:r>
          </a:p>
          <a:p>
            <a:pPr>
              <a:spcAft>
                <a:spcPts val="1000"/>
              </a:spcAft>
              <a:defRPr sz="2200"/>
            </a:pPr>
            <a:r>
              <a:t>Streamlit — local 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Let's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Open: notebooks/01_rag_workshop.ipynb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Start at Section 2: Embeddings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The Retrieval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Question becomes a vector</a:t>
            </a:r>
          </a:p>
          <a:p>
            <a:pPr>
              <a:spcAft>
                <a:spcPts val="1000"/>
              </a:spcAft>
              <a:defRPr sz="2200"/>
            </a:pPr>
            <a:r>
              <a:t>Vector store returns top-k chunks</a:t>
            </a:r>
          </a:p>
          <a:p>
            <a:pPr>
              <a:spcAft>
                <a:spcPts val="1000"/>
              </a:spcAft>
              <a:defRPr sz="2200"/>
            </a:pPr>
            <a:r>
              <a:t>Chunks become the LLM context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Prompt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System: Answer ONLY from the provided context.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Context: [retrieved chunks]</a:t>
            </a:r>
          </a:p>
          <a:p>
            <a:pPr>
              <a:spcAft>
                <a:spcPts val="800"/>
              </a:spcAft>
              <a:defRPr sz="2200"/>
            </a:pPr>
            <a:r>
              <a:t>Question: {user question}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Answer: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With vs Without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Without: guesses, may hallucinate, no sources</a:t>
            </a:r>
          </a:p>
          <a:p>
            <a:pPr>
              <a:spcAft>
                <a:spcPts val="1000"/>
              </a:spcAft>
              <a:defRPr sz="2200"/>
            </a:pPr>
            <a:r>
              <a:t>With: reads your docs, grounded answer, sources shown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Local App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Everything stays on your machine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cd rag-workshop</a:t>
            </a:r>
          </a:p>
          <a:p>
            <a:pPr>
              <a:spcAft>
                <a:spcPts val="800"/>
              </a:spcAft>
              <a:defRPr sz="2200"/>
            </a:pPr>
            <a:r>
              <a:t>streamlit run app.py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Use Cases by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Lecturers: course assistant</a:t>
            </a:r>
          </a:p>
          <a:p>
            <a:pPr>
              <a:spcAft>
                <a:spcPts val="1000"/>
              </a:spcAft>
              <a:defRPr sz="2200"/>
            </a:pPr>
            <a:r>
              <a:t>Researchers: literature Q&amp;A</a:t>
            </a:r>
          </a:p>
          <a:p>
            <a:pPr>
              <a:spcAft>
                <a:spcPts val="1000"/>
              </a:spcAft>
              <a:defRPr sz="2200"/>
            </a:pPr>
            <a:r>
              <a:t>Industry: internal FAQ prototype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Make It Yours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Add your .txt or .pdf to sample_docs/</a:t>
            </a:r>
          </a:p>
          <a:p>
            <a:pPr>
              <a:spcAft>
                <a:spcPts val="1000"/>
              </a:spcAft>
              <a:defRPr sz="2200"/>
            </a:pPr>
            <a:r>
              <a:t>Rebuild the vector store</a:t>
            </a:r>
          </a:p>
          <a:p>
            <a:pPr>
              <a:spcAft>
                <a:spcPts val="1000"/>
              </a:spcAft>
              <a:defRPr sz="2200"/>
            </a:pPr>
            <a:r>
              <a:t>Test 3 questions from your field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What You Built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Document loader</a:t>
            </a:r>
          </a:p>
          <a:p>
            <a:pPr>
              <a:spcAft>
                <a:spcPts val="1000"/>
              </a:spcAft>
              <a:defRPr sz="2200"/>
            </a:pPr>
            <a:r>
              <a:t>Chunking pipeline</a:t>
            </a:r>
          </a:p>
          <a:p>
            <a:pPr>
              <a:spcAft>
                <a:spcPts val="1000"/>
              </a:spcAft>
              <a:defRPr sz="2200"/>
            </a:pPr>
            <a:r>
              <a:t>Local vector store</a:t>
            </a:r>
          </a:p>
          <a:p>
            <a:pPr>
              <a:spcAft>
                <a:spcPts val="1000"/>
              </a:spcAft>
              <a:defRPr sz="2200"/>
            </a:pPr>
            <a:r>
              <a:t>Retrieval function</a:t>
            </a:r>
          </a:p>
          <a:p>
            <a:pPr>
              <a:spcAft>
                <a:spcPts val="1000"/>
              </a:spcAft>
              <a:defRPr sz="2200"/>
            </a:pPr>
            <a:r>
              <a:t>RAG answer function</a:t>
            </a:r>
          </a:p>
          <a:p>
            <a:pPr>
              <a:spcAft>
                <a:spcPts val="1000"/>
              </a:spcAft>
              <a:defRPr sz="2200"/>
            </a:pPr>
            <a:r>
              <a:t>Chat UI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Learning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You are here: RAG</a:t>
            </a:r>
          </a:p>
          <a:p>
            <a:pPr>
              <a:spcAft>
                <a:spcPts val="1000"/>
              </a:spcAft>
              <a:defRPr sz="2200"/>
            </a:pPr>
            <a:r>
              <a:t>Better retrieval &amp; citations</a:t>
            </a:r>
          </a:p>
          <a:p>
            <a:pPr>
              <a:spcAft>
                <a:spcPts val="1000"/>
              </a:spcAft>
              <a:defRPr sz="2200"/>
            </a:pPr>
            <a:r>
              <a:t>AI Agents</a:t>
            </a:r>
          </a:p>
          <a:p>
            <a:pPr>
              <a:spcAft>
                <a:spcPts val="1000"/>
              </a:spcAft>
              <a:defRPr sz="2200"/>
            </a:pPr>
            <a:r>
              <a:t>Fine-tuning</a:t>
            </a:r>
          </a:p>
          <a:p>
            <a:pPr>
              <a:spcAft>
                <a:spcPts val="1000"/>
              </a:spcAft>
              <a:defRPr sz="2200"/>
            </a:pPr>
            <a:r>
              <a:t>Multimodal AI</a:t>
            </a:r>
          </a:p>
          <a:p>
            <a:pPr>
              <a:spcAft>
                <a:spcPts val="1000"/>
              </a:spcAft>
              <a:defRPr sz="2200"/>
            </a:pPr>
            <a:r>
              <a:t>Production engineering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Recommended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LangChain docs</a:t>
            </a:r>
          </a:p>
          <a:p>
            <a:pPr>
              <a:spcAft>
                <a:spcPts val="1000"/>
              </a:spcAft>
              <a:defRPr sz="2200"/>
            </a:pPr>
            <a:r>
              <a:t>Chroma docs</a:t>
            </a:r>
          </a:p>
          <a:p>
            <a:pPr>
              <a:spcAft>
                <a:spcPts val="1000"/>
              </a:spcAft>
              <a:defRPr sz="2200"/>
            </a:pPr>
            <a:r>
              <a:t>Gemini API</a:t>
            </a:r>
          </a:p>
          <a:p>
            <a:pPr>
              <a:spcAft>
                <a:spcPts val="1000"/>
              </a:spcAft>
              <a:defRPr sz="2200"/>
            </a:pPr>
            <a:r>
              <a:t>Hugging Face NLP course</a:t>
            </a:r>
          </a:p>
          <a:p>
            <a:pPr>
              <a:spcAft>
                <a:spcPts val="1000"/>
              </a:spcAft>
              <a:defRPr sz="2200"/>
            </a:pPr>
            <a:r>
              <a:t>See resources/ai_learning_roadmap.md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Workshop repo: (add link)</a:t>
            </a:r>
          </a:p>
          <a:p>
            <a:pPr>
              <a:spcAft>
                <a:spcPts val="1000"/>
              </a:spcAft>
              <a:defRPr sz="2200"/>
            </a:pPr>
            <a:r>
              <a:t>Feedback form: (add link)</a:t>
            </a:r>
          </a:p>
          <a:p>
            <a:pPr>
              <a:spcAft>
                <a:spcPts val="1000"/>
              </a:spcAft>
              <a:defRPr sz="2200"/>
            </a:pPr>
            <a:r>
              <a:t>Contact: (add details)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365D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2B6CB0"/>
                </a:solidFill>
              </a:defRPr>
            </a:pPr>
            <a:r>
              <a:t>Take the code. Build something useful in your domain.</a:t>
            </a:r>
          </a:p>
          <a:p>
            <a:pPr algn="ctr">
              <a:defRPr sz="2200">
                <a:solidFill>
                  <a:srgbClr val="2B6CB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